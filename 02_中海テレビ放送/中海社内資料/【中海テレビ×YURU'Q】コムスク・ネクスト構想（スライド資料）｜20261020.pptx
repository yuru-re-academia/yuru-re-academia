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3" r:id="rId2"/>
    <p:sldId id="256" r:id="rId3"/>
    <p:sldId id="257" r:id="rId4"/>
    <p:sldId id="258" r:id="rId5"/>
    <p:sldId id="261" r:id="rId6"/>
    <p:sldId id="264" r:id="rId7"/>
    <p:sldId id="263" r:id="rId8"/>
    <p:sldId id="265" r:id="rId9"/>
    <p:sldId id="266" r:id="rId10"/>
    <p:sldId id="267" r:id="rId11"/>
    <p:sldId id="268" r:id="rId12"/>
    <p:sldId id="270" r:id="rId13"/>
    <p:sldId id="272" r:id="rId14"/>
    <p:sldId id="262" r:id="rId15"/>
    <p:sldId id="259" r:id="rId16"/>
    <p:sldId id="260" r:id="rId17"/>
    <p:sldId id="269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032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65238"/>
            <a:ext cx="1056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8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8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459038"/>
            <a:ext cx="10566400" cy="3586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65238"/>
            <a:ext cx="1056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8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8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459038"/>
            <a:ext cx="10566400" cy="3586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B8B2B1-62A9-1B17-4D29-85745E28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9496EF-766D-0FAE-B84D-F1F05EF1FC3D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9E99F4D-CBEA-FAB1-73EC-3A27CFDFC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92" y="234418"/>
            <a:ext cx="11411339" cy="642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72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643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中海テレビ×YURU'Q　まちの健康拠点構想（案）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67280"/>
            <a:ext cx="10883392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980"/>
              </a:lnSpc>
              <a:buNone/>
            </a:pPr>
            <a:r>
              <a:rPr lang="en-US" sz="5200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コムスク・ネクスト</a:t>
            </a:r>
            <a:r>
              <a:rPr lang="ja-JP" altLang="en-US" sz="5200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構想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38074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広場から、通う場へ</a:t>
            </a:r>
            <a:endParaRPr lang="en-US" sz="3000" dirty="0"/>
          </a:p>
        </p:txBody>
      </p:sp>
      <p:pic>
        <p:nvPicPr>
          <p:cNvPr id="5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4091940"/>
            <a:ext cx="1016000" cy="38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384040"/>
            <a:ext cx="1088339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コムスクの理念を隣のセンビル1階に広げ、当社が中心となって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地域の事業者と一つの「まちの健康拠点」をつくる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6238240"/>
            <a:ext cx="63587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2026年10月　</a:t>
            </a:r>
            <a:r>
              <a:rPr lang="en-US" sz="1200" dirty="0" err="1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未来創造本部</a:t>
            </a:r>
            <a:r>
              <a:rPr lang="ja-JP" alt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小林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要旨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720"/>
            <a:ext cx="1088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コムスクの理念を隣のセンビル1階に広げ、当社が中心とな</a:t>
            </a:r>
            <a:r>
              <a:rPr lang="ja-JP" altLang="en-US" sz="2800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り、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地域の事業者と一つの「まちの健康拠点」を</a:t>
            </a:r>
            <a:r>
              <a:rPr lang="ja-JP" altLang="en-US" sz="2800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創造する。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555201"/>
            <a:ext cx="3380264" cy="1621790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46480" y="2785706"/>
            <a:ext cx="300683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主体はコムスク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46480" y="3146386"/>
            <a:ext cx="300683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新しい拠点をつくるのではなく、すでにある健康拠点を次の段階に進める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89" y="2555201"/>
            <a:ext cx="3380343" cy="1621790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636294" y="2785706"/>
            <a:ext cx="300691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運営パートナーはYURU'Q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636294" y="3146386"/>
            <a:ext cx="300691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「高齢者を高齢者として扱わない」学校型デイ（アカデミア）を介護事業者として運営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682" y="2555201"/>
            <a:ext cx="3380343" cy="1621790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226187" y="2785706"/>
            <a:ext cx="300691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中海テレビは拠点の中心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6187" y="3146386"/>
            <a:ext cx="300691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場・学びのプログラム・スマホ窓口・番組・行政との窓口を担い、オールメディアで地域に発信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43416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Chukaiスマホの地域拠点構想はこの中に入る。受付のスマホ相談窓口（2027年4月）を第1フェーズとして進</a:t>
            </a:r>
            <a:r>
              <a:rPr lang="ja-JP" altLang="en-US" sz="14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めたい</a:t>
            </a:r>
            <a:r>
              <a:rPr lang="en-US" sz="14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ja-JP" alt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高齢者の「通い」の状況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720"/>
            <a:ext cx="1088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元気な一部の層から、元気を取り戻す多くの人へ。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その層を迎える場は、まだ空いている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458720"/>
            <a:ext cx="3386614" cy="1865630"/>
          </a:xfrm>
          <a:prstGeom prst="roundRect">
            <a:avLst>
              <a:gd name="adj" fmla="val 4084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41400" y="2687320"/>
            <a:ext cx="3017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約2%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41400" y="3352800"/>
            <a:ext cx="30172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住民主体の「通いの場」に参加する65歳以上（行政が把握する範囲、2015年）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2614" y="2458720"/>
            <a:ext cx="3386693" cy="1865630"/>
          </a:xfrm>
          <a:prstGeom prst="roundRect">
            <a:avLst>
              <a:gd name="adj" fmla="val 4084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631214" y="2687320"/>
            <a:ext cx="3017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約16%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631214" y="3352800"/>
            <a:ext cx="301737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ニーズ調査で参加していると答えた割合（JAGES 2016）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2507" y="2458720"/>
            <a:ext cx="3386693" cy="1865630"/>
          </a:xfrm>
          <a:prstGeom prst="roundRect">
            <a:avLst>
              <a:gd name="adj" fmla="val 4084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221107" y="2687320"/>
            <a:ext cx="3017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EAB2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8割以上</a:t>
            </a:r>
            <a:endParaRPr lang="en-US" sz="4400" dirty="0">
              <a:solidFill>
                <a:srgbClr val="EAB2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1107" y="3352800"/>
            <a:ext cx="3017378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講座や習い事に自分では通っていない層。介護認定を受けた人、プレフレイルの人が含まれる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4578350"/>
            <a:ext cx="1088339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コムスクが開いた入口を、自分では足を運べない人、介護認定を受けた人にまで広げる。超高齢社会におけるまちの健康のモデル（象徴）となる拠点を創造し、オールメディアで地域に発信する。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1"/>
            <a:ext cx="78132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出典：厚生労働省 一般介護予防事業等の推進方策に関する検討会 資料（近藤克則、2019年）　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2"/>
              </a:lnSpc>
              <a:buNone/>
            </a:pPr>
            <a:r>
              <a:rPr 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構想：広場から、通う場へ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3254"/>
            <a:ext cx="11289004" cy="1538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58"/>
              </a:lnSpc>
              <a:buNone/>
            </a:pPr>
            <a:r>
              <a:rPr lang="en-US" sz="2686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コムスク</a:t>
            </a:r>
            <a:r>
              <a:rPr lang="ja-JP" alt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2686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学ぶ広場</a:t>
            </a:r>
            <a:r>
              <a:rPr 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」、センビル1階</a:t>
            </a:r>
            <a:r>
              <a:rPr lang="ja-JP" altLang="en-US" sz="2686" b="1" dirty="0"/>
              <a:t>：</a:t>
            </a:r>
            <a:r>
              <a:rPr 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2686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通う・相談・発信</a:t>
            </a:r>
            <a:r>
              <a:rPr lang="ja-JP" alt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の場</a:t>
            </a:r>
            <a:r>
              <a:rPr 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r>
              <a:rPr lang="ja-JP" alt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へ</a:t>
            </a:r>
            <a:endParaRPr lang="en-US" sz="2686" dirty="0"/>
          </a:p>
          <a:p>
            <a:pPr marL="0" indent="0" algn="l">
              <a:lnSpc>
                <a:spcPts val="3358"/>
              </a:lnSpc>
              <a:buNone/>
            </a:pPr>
            <a:r>
              <a:rPr lang="en-US" sz="2686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歩いて</a:t>
            </a:r>
            <a:r>
              <a:rPr lang="ja-JP" alt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繋がる</a:t>
            </a:r>
            <a:r>
              <a:rPr 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2686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まちの健康</a:t>
            </a:r>
            <a:r>
              <a:rPr lang="ja-JP" alt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拠点</a:t>
            </a:r>
            <a:r>
              <a:rPr 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」を</a:t>
            </a:r>
            <a:r>
              <a:rPr lang="ja-JP" alt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創る</a:t>
            </a:r>
            <a:r>
              <a:rPr lang="ja-JP" altLang="en-US" sz="2686" b="1" dirty="0"/>
              <a:t>。</a:t>
            </a:r>
            <a:endParaRPr lang="en-US" sz="2686" dirty="0"/>
          </a:p>
        </p:txBody>
      </p:sp>
      <p:sp>
        <p:nvSpPr>
          <p:cNvPr id="4" name="Shape 2"/>
          <p:cNvSpPr/>
          <p:nvPr/>
        </p:nvSpPr>
        <p:spPr>
          <a:xfrm>
            <a:off x="819150" y="2581034"/>
            <a:ext cx="2781300" cy="236855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12700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26160" y="2788045"/>
            <a:ext cx="24382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コムスク（四日市町）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6160" y="3090306"/>
            <a:ext cx="243829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学ぶ（広場）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26160" y="3484006"/>
            <a:ext cx="2438299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講座・フレイル予防教室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米子市との連携の入口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ゆるダンの講座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6160" y="4315856"/>
            <a:ext cx="243829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元気な人・プレフレイルの人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「転ばぬ先」</a:t>
            </a:r>
            <a:endParaRPr lang="en-US" sz="1200" dirty="0"/>
          </a:p>
        </p:txBody>
      </p:sp>
      <p:pic>
        <p:nvPicPr>
          <p:cNvPr id="10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08400" y="3638229"/>
            <a:ext cx="558800" cy="254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78325" y="2484513"/>
            <a:ext cx="6991350" cy="2561590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381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4587240" y="2693431"/>
            <a:ext cx="67707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センビル1階（コムスクの次の一歩。当社の拠点の中にパートナーが入る）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87240" y="3008388"/>
            <a:ext cx="2123440" cy="1513840"/>
          </a:xfrm>
          <a:prstGeom prst="roundRect">
            <a:avLst>
              <a:gd name="adj" fmla="val 4195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739640" y="3160788"/>
            <a:ext cx="187319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相談する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39640" y="3455431"/>
            <a:ext cx="1873199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受付・玄関ホール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スマホ・行政サービスの窓口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委託：YURU'Q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12280" y="3008388"/>
            <a:ext cx="2123440" cy="1513840"/>
          </a:xfrm>
          <a:prstGeom prst="roundRect">
            <a:avLst>
              <a:gd name="adj" fmla="val 4195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964680" y="3160788"/>
            <a:ext cx="187319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通う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964680" y="3455431"/>
            <a:ext cx="1873199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貸室A（約72㎡）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アカデミア型デイ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賃貸：YURU'Q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037320" y="3008388"/>
            <a:ext cx="2123440" cy="1513840"/>
          </a:xfrm>
          <a:prstGeom prst="roundRect">
            <a:avLst>
              <a:gd name="adj" fmla="val 4195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9189720" y="3160788"/>
            <a:ext cx="187319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発信する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9189720" y="3455431"/>
            <a:ext cx="1873199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スタジオ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ダンス・教室＋当社の収録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賃貸：YURU'Q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87240" y="4623831"/>
            <a:ext cx="67707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要支援・要介護に入った人も、その家族も。「転んでも戻れる」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2800" y="5372061"/>
            <a:ext cx="10883392" cy="1269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r>
              <a:rPr lang="en-US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アカデミアで元気を取り戻した人がコムスクの講座に</a:t>
            </a:r>
            <a:r>
              <a:rPr lang="ja-JP" altLang="en-US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も向かえる</a:t>
            </a:r>
            <a:r>
              <a:rPr lang="en-US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卒業の流れ</a:t>
            </a:r>
            <a:r>
              <a:rPr lang="en-US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r>
              <a:rPr lang="en-US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入口と通う場が隣り合うから行き来ができる</a:t>
            </a:r>
            <a:r>
              <a:rPr lang="en-US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r>
              <a:rPr lang="en-US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周辺の幼稚園・支援団体・髙島屋・公会堂を含むブロックへ（将来像</a:t>
            </a:r>
            <a:r>
              <a:rPr lang="en-US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dirty="0"/>
          </a:p>
        </p:txBody>
      </p:sp>
      <p:pic>
        <p:nvPicPr>
          <p:cNvPr id="26" name="Image 0" descr="arrow-right">
            <a:extLst>
              <a:ext uri="{FF2B5EF4-FFF2-40B4-BE49-F238E27FC236}">
                <a16:creationId xmlns:a16="http://schemas.microsoft.com/office/drawing/2014/main" id="{151C8953-7329-7509-E1E9-159BCBC6D5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3676880" y="3306995"/>
            <a:ext cx="554759" cy="257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8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3"/>
              </a:lnSpc>
              <a:buNone/>
            </a:pPr>
            <a:r>
              <a:rPr 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拠点の構造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4997"/>
            <a:ext cx="10883392" cy="1115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8"/>
              </a:lnSpc>
              <a:buNone/>
            </a:pPr>
            <a:r>
              <a:rPr lang="en-US" sz="240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3つの層で構成する。当社が担うのは②「総合的な健康の拠点事業」であり、</a:t>
            </a:r>
            <a:endParaRPr lang="en-US" sz="2406" dirty="0"/>
          </a:p>
          <a:p>
            <a:pPr marL="0" indent="0" algn="l">
              <a:lnSpc>
                <a:spcPts val="3008"/>
              </a:lnSpc>
              <a:buNone/>
            </a:pPr>
            <a:r>
              <a:rPr lang="en-US" sz="240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拠点の中心として地域の事業者と一つの拠点をつくる</a:t>
            </a:r>
            <a:endParaRPr lang="en-US" sz="2406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661095"/>
              </p:ext>
            </p:extLst>
          </p:nvPr>
        </p:nvGraphicFramePr>
        <p:xfrm>
          <a:off x="822960" y="2303627"/>
          <a:ext cx="10556240" cy="2346484"/>
        </p:xfrm>
        <a:graphic>
          <a:graphicData uri="http://schemas.openxmlformats.org/drawingml/2006/table">
            <a:tbl>
              <a:tblPr/>
              <a:tblGrid>
                <a:gridCol w="1688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9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5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842"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層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中身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主体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収入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42"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① </a:t>
                      </a:r>
                      <a:r>
                        <a:rPr lang="en-US" sz="1400" b="1" dirty="0" err="1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介護</a:t>
                      </a:r>
                      <a:endParaRPr lang="en-US" sz="1400" b="1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アカデミア型デイサービス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YURU'Q（指定を取得）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介護報酬、保険外サービス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336"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②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拠点</a:t>
                      </a:r>
                      <a:r>
                        <a:rPr lang="ja-JP" altLang="en-US" sz="1400" b="1" dirty="0">
                          <a:solidFill>
                            <a:srgbClr val="C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・窓口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Noto Sans JP" pitchFamily="34" charset="0"/>
                        <a:ea typeface="Noto Sans JP" pitchFamily="34" charset="-122"/>
                        <a:cs typeface="Noto Sans JP" pitchFamily="34" charset="-12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「コムスク・ネクスト」のブランドと場。学びのプログラム、スマホ窓口、番組、行政・企業との窓口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dirty="0" err="1">
                          <a:solidFill>
                            <a:srgbClr val="8B2A2E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中海テレビ（コムスク</a:t>
                      </a:r>
                      <a:r>
                        <a:rPr lang="ja-JP" altLang="en-US" sz="1400" dirty="0">
                          <a:solidFill>
                            <a:srgbClr val="8B2A2E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・未来創造本部</a:t>
                      </a:r>
                      <a:r>
                        <a:rPr lang="en-US" sz="1400" dirty="0">
                          <a:solidFill>
                            <a:srgbClr val="8B2A2E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スマホ（獲得・解約防止・家族への提案）、番組・スポンサー、行政受託、企業連携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842"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③ </a:t>
                      </a:r>
                      <a:r>
                        <a:rPr lang="en-US" sz="1400" b="1" dirty="0" err="1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不動産・委託</a:t>
                      </a:r>
                      <a:endParaRPr lang="en-US" sz="1400" b="1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貸室A・スタジオの賃貸、受付・ビル管理の委託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中海テレビ（地域創造本部）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58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家賃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5207204"/>
            <a:ext cx="5194300" cy="1101328"/>
          </a:xfrm>
          <a:prstGeom prst="roundRect">
            <a:avLst>
              <a:gd name="adj" fmla="val 6919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1016000" y="5385004"/>
            <a:ext cx="4931537" cy="18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当社の役割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016000" y="5605431"/>
            <a:ext cx="4931537" cy="55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8"/>
              </a:lnSpc>
              <a:buNone/>
            </a:pPr>
            <a:r>
              <a:rPr lang="en-US" sz="1105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地域の事業者と役割を分けて一つの健康拠点を運営する「拠点の中心」。②があるから、①と③は「テナントと大家」ではなく「一つの拠点」になる。</a:t>
            </a:r>
            <a:endParaRPr lang="en-US" sz="1105" dirty="0"/>
          </a:p>
        </p:txBody>
      </p:sp>
      <p:sp>
        <p:nvSpPr>
          <p:cNvPr id="8" name="Shape 5"/>
          <p:cNvSpPr/>
          <p:nvPr/>
        </p:nvSpPr>
        <p:spPr>
          <a:xfrm>
            <a:off x="6184900" y="5207204"/>
            <a:ext cx="5194300" cy="1101328"/>
          </a:xfrm>
          <a:prstGeom prst="roundRect">
            <a:avLst>
              <a:gd name="adj" fmla="val 6919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6388100" y="5385004"/>
            <a:ext cx="4931537" cy="18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事業の形（案）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388100" y="5605431"/>
            <a:ext cx="4931537" cy="55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9"/>
              </a:lnSpc>
              <a:buNone/>
            </a:pPr>
            <a:r>
              <a:rPr lang="en-US" sz="102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法人はつくらず、当社の拠点事業の中にパートナーが入る形を軸に、共同事業協定で役割・費用・協定終了時の取扱いを定める。介護事業の収支はYURU'Qが負う。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4"/>
              </a:lnSpc>
              <a:buNone/>
            </a:pPr>
            <a:r>
              <a:rPr 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YURU‘Q</a:t>
            </a:r>
            <a:r>
              <a:rPr lang="ja-JP" alt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合同会社</a:t>
            </a:r>
            <a:r>
              <a:rPr lang="en-US" sz="2400" b="1" kern="0" spc="100" dirty="0" err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が目指すデイサービス（佐々木代表の見解</a:t>
            </a:r>
            <a:r>
              <a:rPr 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73175"/>
            <a:ext cx="10883392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59"/>
              </a:lnSpc>
              <a:buNone/>
            </a:pPr>
            <a:r>
              <a:rPr lang="en-US" sz="260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2608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介護を受ける人」から</a:t>
            </a:r>
            <a:r>
              <a:rPr lang="en-US" sz="260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ja-JP" altLang="en-US" sz="260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愉しみ・</a:t>
            </a:r>
            <a:r>
              <a:rPr lang="en-US" sz="2608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学ぶ人」へ</a:t>
            </a:r>
            <a:r>
              <a:rPr lang="en-US" sz="260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2608" dirty="0"/>
          </a:p>
          <a:p>
            <a:pPr marL="0" indent="0" algn="l">
              <a:lnSpc>
                <a:spcPts val="3259"/>
              </a:lnSpc>
              <a:buNone/>
            </a:pPr>
            <a:r>
              <a:rPr lang="en-US" sz="2608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元気を取り戻して卒業する</a:t>
            </a:r>
            <a:r>
              <a:rPr lang="en-US" sz="260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r>
              <a:rPr lang="ja-JP" altLang="en-US" sz="260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</a:t>
            </a:r>
            <a:r>
              <a:rPr lang="en-US" sz="2608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アカデミア型</a:t>
            </a:r>
            <a:r>
              <a:rPr lang="ja-JP" altLang="en-US" sz="260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</a:t>
            </a:r>
            <a:r>
              <a:rPr lang="en-US" sz="2608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のデイ</a:t>
            </a:r>
            <a:r>
              <a:rPr lang="ja-JP" altLang="en-US" sz="260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サービス</a:t>
            </a:r>
            <a:endParaRPr lang="en-US" sz="2608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00330"/>
              </p:ext>
            </p:extLst>
          </p:nvPr>
        </p:nvGraphicFramePr>
        <p:xfrm>
          <a:off x="822960" y="2339816"/>
          <a:ext cx="10556240" cy="2812336"/>
        </p:xfrm>
        <a:graphic>
          <a:graphicData uri="http://schemas.openxmlformats.org/drawingml/2006/table">
            <a:tbl>
              <a:tblPr/>
              <a:tblGrid>
                <a:gridCol w="1900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6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観点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従来型のデイサービス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YURU'Qが目指すアカデミア型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044"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利用者の捉え方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介護を受ける人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ja-JP" altLang="en-US" sz="117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愉しみ・</a:t>
                      </a:r>
                      <a:r>
                        <a:rPr lang="en-US" sz="1170" dirty="0" err="1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学ぶ人</a:t>
                      </a:r>
                      <a:r>
                        <a:rPr lang="en-US" sz="117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。「高齢者を高齢者として扱わない」。</a:t>
                      </a:r>
                      <a:r>
                        <a:rPr lang="en-US" sz="1170" dirty="0" err="1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介護認定を「入学資格」に変える</a:t>
                      </a:r>
                      <a:r>
                        <a:rPr lang="ja-JP" altLang="en-US" sz="117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方針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044"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サービスの形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送迎・食事・入浴を前提にしたフルパッケージ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ダンス・学び・スマホ・地域の講師による授業を利用者が選ぶ。定員18人前後が目安（要確認）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044"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目指すもの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通い続けること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「できた」を増やして元気を取り戻し、卒業してコムスクの講座に戻る（リエイブルメント）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123"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場のつくり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施設の中で完結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8"/>
                        </a:lnSpc>
                        <a:buNone/>
                      </a:pPr>
                      <a:r>
                        <a:rPr lang="en-US" sz="117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明るく開いた場。隣のコムスク、周辺の幼稚園や商業施設と行き来し、世代を超えて交流する</a:t>
                      </a:r>
                      <a:endParaRPr lang="en-US" sz="117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380751"/>
            <a:ext cx="10883392" cy="486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34"/>
              </a:lnSpc>
              <a:buNone/>
            </a:pPr>
            <a:r>
              <a:rPr lang="en-US" sz="1223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で見えている課題：介護認定を受けた時点で気持ちが落ちる／従来型は内容が画一的になりやすく「もっと楽しいところはないか」という声がある／要介護度が下がると事業者の報酬が減る構造があり、元気を取り戻すことを目標にするデイは少ない。</a:t>
            </a:r>
            <a:endParaRPr lang="en-US" sz="1223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1C0CDB3-70E4-406A-A7AA-0065689F6C81}"/>
              </a:ext>
            </a:extLst>
          </p:cNvPr>
          <p:cNvSpPr/>
          <p:nvPr/>
        </p:nvSpPr>
        <p:spPr>
          <a:xfrm>
            <a:off x="6298163" y="2339816"/>
            <a:ext cx="5085184" cy="282001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8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3"/>
              </a:lnSpc>
              <a:buNone/>
            </a:pPr>
            <a:r>
              <a:rPr lang="en-US" sz="2400" b="1" kern="0" spc="100" dirty="0" err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なぜ中海テレビ</a:t>
            </a:r>
            <a:r>
              <a:rPr lang="ja-JP" alt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放送</a:t>
            </a:r>
            <a:r>
              <a:rPr lang="en-US" sz="2400" b="1" kern="0" spc="100" dirty="0" err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が中心になるのか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4203"/>
            <a:ext cx="10883392" cy="111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70"/>
              </a:lnSpc>
              <a:buNone/>
            </a:pPr>
            <a:r>
              <a:rPr lang="en-US" sz="261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経営理念に沿い、コムスク・メディア・シニアとの接点という</a:t>
            </a:r>
            <a:endParaRPr lang="en-US" sz="2616" dirty="0"/>
          </a:p>
          <a:p>
            <a:pPr marL="0" indent="0" algn="l">
              <a:lnSpc>
                <a:spcPts val="3270"/>
              </a:lnSpc>
              <a:buNone/>
            </a:pPr>
            <a:r>
              <a:rPr lang="en-US" sz="2616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</a:t>
            </a:r>
            <a:r>
              <a:rPr lang="ja-JP" altLang="en-US" sz="261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の持つ</a:t>
            </a:r>
            <a:r>
              <a:rPr lang="en-US" sz="2616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資産を</a:t>
            </a:r>
            <a:r>
              <a:rPr lang="ja-JP" altLang="en-US" sz="261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</a:t>
            </a:r>
            <a:r>
              <a:rPr lang="en-US" sz="261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r>
              <a:rPr lang="en-US" sz="2616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コムスクを広げる形でYURU‘Qと挑戦する</a:t>
            </a:r>
            <a:r>
              <a:rPr lang="ja-JP" altLang="en-US" sz="2616" b="1" dirty="0"/>
              <a:t>。</a:t>
            </a:r>
            <a:endParaRPr lang="en-US" sz="2616" dirty="0"/>
          </a:p>
        </p:txBody>
      </p:sp>
      <p:sp>
        <p:nvSpPr>
          <p:cNvPr id="4" name="Shape 2"/>
          <p:cNvSpPr/>
          <p:nvPr/>
        </p:nvSpPr>
        <p:spPr>
          <a:xfrm>
            <a:off x="815975" y="2562386"/>
            <a:ext cx="5187950" cy="1305560"/>
          </a:xfrm>
          <a:prstGeom prst="roundRect">
            <a:avLst>
              <a:gd name="adj" fmla="val 5593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8380" y="2754790"/>
            <a:ext cx="494723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3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経営理念との整合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08380" y="2999897"/>
            <a:ext cx="4947234" cy="85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</a:rPr>
              <a:t>「</a:t>
            </a:r>
            <a:r>
              <a:rPr lang="en-US" sz="1200" dirty="0" err="1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</a:rPr>
              <a:t>地域の豊かな未来</a:t>
            </a:r>
            <a:r>
              <a:rPr lang="ja-JP" alt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</a:rPr>
              <a:t>の実現</a:t>
            </a: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</a:rPr>
              <a:t>」「</a:t>
            </a:r>
            <a:r>
              <a:rPr lang="en-US" sz="1200" dirty="0" err="1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</a:rPr>
              <a:t>新たなサービスの創造</a:t>
            </a: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</a:rPr>
              <a:t>」。</a:t>
            </a:r>
          </a:p>
          <a:p>
            <a:pPr>
              <a:lnSpc>
                <a:spcPts val="1800"/>
              </a:lnSpc>
            </a:pPr>
            <a:r>
              <a:rPr lang="en-US" sz="1200" dirty="0" err="1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</a:rPr>
              <a:t>地域の豊かな未来を「まちの健康」で形にし、地域の事業者と組んで挑戦する</a:t>
            </a: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</a:rPr>
              <a:t>。</a:t>
            </a:r>
          </a:p>
        </p:txBody>
      </p:sp>
      <p:sp>
        <p:nvSpPr>
          <p:cNvPr id="7" name="Shape 5"/>
          <p:cNvSpPr/>
          <p:nvPr/>
        </p:nvSpPr>
        <p:spPr>
          <a:xfrm>
            <a:off x="6188075" y="2562386"/>
            <a:ext cx="5187950" cy="1305560"/>
          </a:xfrm>
          <a:prstGeom prst="roundRect">
            <a:avLst>
              <a:gd name="adj" fmla="val 5593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380480" y="2754790"/>
            <a:ext cx="49472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コムスクが入口を担っている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380480" y="3059590"/>
            <a:ext cx="494723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米子市フレイル予防の公式会場（5年目）、行政との窓口、講師のネットワーク、ゆるダンの講座。ゼロからではない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4102894"/>
            <a:ext cx="5187950" cy="1119346"/>
          </a:xfrm>
          <a:prstGeom prst="roundRect">
            <a:avLst>
              <a:gd name="adj" fmla="val 6524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008380" y="4295298"/>
            <a:ext cx="4947234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2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 中海にしかない資産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8380" y="4536126"/>
            <a:ext cx="4947234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6"/>
              </a:lnSpc>
              <a:buNone/>
            </a:pPr>
            <a:r>
              <a:rPr lang="en-US" sz="1177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30年分の地域アーカイブと放送枠、制作・報道・番組を横断するオールメディアの発信力。アカデミアの教材にも、地域参加型の番組にもなる</a:t>
            </a:r>
            <a:endParaRPr lang="en-US" sz="1177" dirty="0"/>
          </a:p>
        </p:txBody>
      </p:sp>
      <p:sp>
        <p:nvSpPr>
          <p:cNvPr id="13" name="Shape 11"/>
          <p:cNvSpPr/>
          <p:nvPr/>
        </p:nvSpPr>
        <p:spPr>
          <a:xfrm>
            <a:off x="6188075" y="4102894"/>
            <a:ext cx="5187950" cy="1119346"/>
          </a:xfrm>
          <a:prstGeom prst="roundRect">
            <a:avLst>
              <a:gd name="adj" fmla="val 6524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380480" y="4295298"/>
            <a:ext cx="4947234" cy="24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 シニアとの接点が事業として回っている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80480" y="4590969"/>
            <a:ext cx="4947234" cy="46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155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お客様センター、訪問サポート、Chukaiスマホ。「できた」を届ける力がすでにある</a:t>
            </a:r>
            <a:endParaRPr lang="en-US" sz="1155" dirty="0"/>
          </a:p>
        </p:txBody>
      </p:sp>
      <p:sp>
        <p:nvSpPr>
          <p:cNvPr id="16" name="Text 14"/>
          <p:cNvSpPr/>
          <p:nvPr/>
        </p:nvSpPr>
        <p:spPr>
          <a:xfrm>
            <a:off x="812800" y="5454017"/>
            <a:ext cx="10883392" cy="41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5"/>
              </a:lnSpc>
              <a:buNone/>
            </a:pPr>
            <a:r>
              <a:rPr lang="en-US" sz="1023" b="1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なぜYURU'Qか</a:t>
            </a:r>
            <a:r>
              <a:rPr lang="en-US" sz="1023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「ゆるダン」で地域のシニアを盛り上げ、米子市の委託で市内全公民館（29か所）を巡回（2年目）。代表は元小学校教員で、フリースクールの立ち上げ経験がある。当社はダンスチームのスポンサー2年目、コムスクとの共催実績がある。</a:t>
            </a:r>
            <a:endParaRPr lang="en-US" sz="102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3"/>
              </a:lnSpc>
              <a:buNone/>
            </a:pPr>
            <a:r>
              <a:rPr 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3本柱と役割分担（案）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1983"/>
            <a:ext cx="10883392" cy="38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22"/>
              </a:lnSpc>
              <a:buNone/>
            </a:pPr>
            <a:r>
              <a:rPr lang="en-US" sz="225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中海テレビ放送とYURU‘Qの2者で進められる3</a:t>
            </a:r>
            <a:r>
              <a:rPr lang="ja-JP" altLang="en-US" sz="2258" b="1" dirty="0"/>
              <a:t>本に。</a:t>
            </a:r>
            <a:endParaRPr lang="en-US" sz="2258" dirty="0"/>
          </a:p>
        </p:txBody>
      </p:sp>
      <p:sp>
        <p:nvSpPr>
          <p:cNvPr id="4" name="Shape 2"/>
          <p:cNvSpPr/>
          <p:nvPr/>
        </p:nvSpPr>
        <p:spPr>
          <a:xfrm>
            <a:off x="812800" y="1828800"/>
            <a:ext cx="3403600" cy="2087801"/>
          </a:xfrm>
          <a:prstGeom prst="roundRect">
            <a:avLst>
              <a:gd name="adj" fmla="val 3650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3300" y="2019300"/>
            <a:ext cx="3113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YURU'Q　2028年4月（目標）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3300" y="2439492"/>
            <a:ext cx="311327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アカデミア型デイサービス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03300" y="2787520"/>
            <a:ext cx="311327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貸室Aで、送迎・食事・入浴を前提にしない選べる型のデイ。講師はコムスクと地域から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4200" y="1828800"/>
            <a:ext cx="3403600" cy="2087801"/>
          </a:xfrm>
          <a:prstGeom prst="roundRect">
            <a:avLst>
              <a:gd name="adj" fmla="val 3650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84700" y="2019300"/>
            <a:ext cx="3213100" cy="34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129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スマホチーム＋YURU'Q（委託）　2027年4月</a:t>
            </a:r>
            <a:endParaRPr lang="en-US" sz="1129" dirty="0"/>
          </a:p>
        </p:txBody>
      </p:sp>
      <p:sp>
        <p:nvSpPr>
          <p:cNvPr id="10" name="Text 8"/>
          <p:cNvSpPr/>
          <p:nvPr/>
        </p:nvSpPr>
        <p:spPr>
          <a:xfrm>
            <a:off x="4584700" y="2417924"/>
            <a:ext cx="3213100" cy="39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2"/>
              </a:lnSpc>
              <a:buNone/>
            </a:pPr>
            <a:r>
              <a:rPr lang="en-US" sz="1585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スマホ・行政サービスの相談窓口</a:t>
            </a:r>
            <a:endParaRPr lang="en-US" sz="1585" dirty="0">
              <a:solidFill>
                <a:srgbClr val="C0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84700" y="2759942"/>
            <a:ext cx="3113278" cy="1065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9"/>
              </a:lnSpc>
              <a:buNone/>
            </a:pPr>
            <a:r>
              <a:rPr lang="en-US" sz="1133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受付での常設窓口。他社スマホも含めた何でも相談、家族への提案、訪問サポートの出発点。行政が推進するアプリや仕組みの導入支援窓口を併設し、行政と一緒に運営する形を目指す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>
            <a:off x="7975600" y="1828800"/>
            <a:ext cx="3720592" cy="2087801"/>
          </a:xfrm>
          <a:prstGeom prst="roundRect">
            <a:avLst>
              <a:gd name="adj" fmla="val 3650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166100" y="2019300"/>
            <a:ext cx="32639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43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コムスク＋メディア創造本部　年度内に試行（案）</a:t>
            </a:r>
            <a:endParaRPr lang="en-US" sz="1043" dirty="0"/>
          </a:p>
        </p:txBody>
      </p:sp>
      <p:sp>
        <p:nvSpPr>
          <p:cNvPr id="14" name="Text 12"/>
          <p:cNvSpPr/>
          <p:nvPr/>
        </p:nvSpPr>
        <p:spPr>
          <a:xfrm>
            <a:off x="8166100" y="2423943"/>
            <a:ext cx="3113278" cy="234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学びと番組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66100" y="2746456"/>
            <a:ext cx="3113278" cy="1005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89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健康教室の収録、地域参加型の番組。オールメディアで発信。2027年度に自費のプレ講座を開き、開校前に体験者と入学希望者をつくる。内容・体制はメディア創造本部と調整</a:t>
            </a:r>
            <a:endParaRPr lang="en-US" sz="1189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337833"/>
              </p:ext>
            </p:extLst>
          </p:nvPr>
        </p:nvGraphicFramePr>
        <p:xfrm>
          <a:off x="822959" y="4155363"/>
          <a:ext cx="10840305" cy="2318760"/>
        </p:xfrm>
        <a:graphic>
          <a:graphicData uri="http://schemas.openxmlformats.org/drawingml/2006/table">
            <a:tbl>
              <a:tblPr/>
              <a:tblGrid>
                <a:gridCol w="238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5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521">
                <a:tc>
                  <a:txBody>
                    <a:bodyPr/>
                    <a:lstStyle/>
                    <a:p>
                      <a:pPr marL="0" indent="0">
                        <a:lnSpc>
                          <a:spcPts val="1144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誰が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44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何を出すか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521">
                <a:tc>
                  <a:txBody>
                    <a:bodyPr/>
                    <a:lstStyle/>
                    <a:p>
                      <a:pPr marL="0" indent="0">
                        <a:lnSpc>
                          <a:spcPts val="114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コムスク（当社）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4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拠点の事業主。ブランド、学びのプログラム、米子市との窓口、講師のネットワーク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52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 err="1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スマホチーム</a:t>
                      </a:r>
                      <a:endParaRPr lang="en-US" sz="1400" dirty="0">
                        <a:solidFill>
                          <a:srgbClr val="1F2328"/>
                        </a:solidFill>
                        <a:latin typeface="Noto Sans JP" pitchFamily="34" charset="0"/>
                        <a:ea typeface="Noto Sans JP" pitchFamily="34" charset="-122"/>
                        <a:cs typeface="Noto Sans JP" pitchFamily="34" charset="-12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 err="1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メディア創造本部</a:t>
                      </a:r>
                      <a:endParaRPr lang="en-US" sz="1400" dirty="0">
                        <a:solidFill>
                          <a:srgbClr val="1F2328"/>
                        </a:solidFill>
                        <a:latin typeface="Noto Sans JP" pitchFamily="34" charset="0"/>
                        <a:ea typeface="Noto Sans JP" pitchFamily="34" charset="-122"/>
                        <a:cs typeface="Noto Sans JP" pitchFamily="34" charset="-12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 err="1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地域創造本部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4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窓口の運用・研修とサポートの受け皿／スタジオ・番組・アーカイブ・発信／賃貸・委託・区画工事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619">
                <a:tc>
                  <a:txBody>
                    <a:bodyPr/>
                    <a:lstStyle/>
                    <a:p>
                      <a:pPr marL="0" indent="0">
                        <a:lnSpc>
                          <a:spcPts val="114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YURU'Q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4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デイの運営と介護指定、受付業務、ゆるダン、公民館巡回との接続、SNS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619">
                <a:tc>
                  <a:txBody>
                    <a:bodyPr/>
                    <a:lstStyle/>
                    <a:p>
                      <a:pPr marL="0" indent="0">
                        <a:lnSpc>
                          <a:spcPts val="114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米子市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4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フレイル予防・総合事業の制度、第10期高齢者保健福祉計画への位置づけ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9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0"/>
              </a:lnSpc>
              <a:buNone/>
            </a:pPr>
            <a:r>
              <a:rPr 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センビル1階の使い方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5238"/>
            <a:ext cx="10883392" cy="824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61"/>
              </a:lnSpc>
              <a:buNone/>
            </a:pPr>
            <a:r>
              <a:rPr lang="en-US" sz="2529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1階全体をコムスク・ネクストの拠点として</a:t>
            </a:r>
            <a:r>
              <a:rPr lang="ja-JP" altLang="en-US" sz="2529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位置付ける</a:t>
            </a:r>
            <a:r>
              <a:rPr lang="en-US" sz="2529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2529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555010"/>
              </p:ext>
            </p:extLst>
          </p:nvPr>
        </p:nvGraphicFramePr>
        <p:xfrm>
          <a:off x="822960" y="2051457"/>
          <a:ext cx="10556240" cy="2547858"/>
        </p:xfrm>
        <a:graphic>
          <a:graphicData uri="http://schemas.openxmlformats.org/drawingml/2006/table">
            <a:tbl>
              <a:tblPr/>
              <a:tblGrid>
                <a:gridCol w="211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636">
                <a:tc>
                  <a:txBody>
                    <a:bodyPr/>
                    <a:lstStyle/>
                    <a:p>
                      <a:pPr marL="0" indent="0">
                        <a:lnSpc>
                          <a:spcPts val="1564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場所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64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使い方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64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形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64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時期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64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事務室（受付）・玄関ホール</a:t>
                      </a:r>
                      <a:endParaRPr lang="en-US" sz="1400" kern="1200" dirty="0">
                        <a:solidFill>
                          <a:srgbClr val="1F2328"/>
                        </a:solidFill>
                        <a:latin typeface="Noto Sans JP" pitchFamily="34" charset="0"/>
                        <a:ea typeface="Noto Sans JP" pitchFamily="34" charset="-122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64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拠点の窓口。受付・ビル管理とスマホ相談窓口</a:t>
                      </a:r>
                      <a:endParaRPr lang="en-US" sz="1400" kern="1200" dirty="0">
                        <a:solidFill>
                          <a:srgbClr val="1F2328"/>
                        </a:solidFill>
                        <a:latin typeface="Noto Sans JP" pitchFamily="34" charset="0"/>
                        <a:ea typeface="Noto Sans JP" pitchFamily="34" charset="-122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6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YURU'Qへの業務委託（R-techから移管）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6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2027年4月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64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貸室A（約72㎡）</a:t>
                      </a:r>
                      <a:endParaRPr lang="en-US" sz="1400" kern="1200" dirty="0">
                        <a:solidFill>
                          <a:srgbClr val="1F2328"/>
                        </a:solidFill>
                        <a:latin typeface="Noto Sans JP" pitchFamily="34" charset="0"/>
                        <a:ea typeface="Noto Sans JP" pitchFamily="34" charset="-122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64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アカデミア型デイ</a:t>
                      </a:r>
                      <a:endParaRPr lang="en-US" sz="1400" kern="1200" dirty="0">
                        <a:solidFill>
                          <a:srgbClr val="1F2328"/>
                        </a:solidFill>
                        <a:latin typeface="Noto Sans JP" pitchFamily="34" charset="0"/>
                        <a:ea typeface="Noto Sans JP" pitchFamily="34" charset="-122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6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YURU'Qへの賃貸（調整室1との区画を整理）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6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2028年4月（目標）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52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64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スタジオ</a:t>
                      </a:r>
                      <a:endParaRPr lang="en-US" sz="1400" kern="1200" dirty="0">
                        <a:solidFill>
                          <a:srgbClr val="1F2328"/>
                        </a:solidFill>
                        <a:latin typeface="Noto Sans JP" pitchFamily="34" charset="0"/>
                        <a:ea typeface="Noto Sans JP" pitchFamily="34" charset="-122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1564"/>
                        </a:lnSpc>
                        <a:buNone/>
                      </a:pPr>
                      <a:r>
                        <a:rPr lang="en-US" sz="1400" kern="12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YURU'Qのダンススタジオ・教室。当社は健康教室の収録・番組制作に使い、BCP時の代替スタジオとしても使えるようにする。撮影セットの扱いは要確認</a:t>
                      </a:r>
                      <a:endParaRPr lang="en-US" sz="1400" kern="1200" dirty="0">
                        <a:solidFill>
                          <a:srgbClr val="1F2328"/>
                        </a:solidFill>
                        <a:latin typeface="Noto Sans JP" pitchFamily="34" charset="0"/>
                        <a:ea typeface="Noto Sans JP" pitchFamily="34" charset="-122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6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YURU'Qへの賃貸（当社の利用条件を協定・契約に定める）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64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2028年4月（目標）。年度内に試行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5975" y="4873941"/>
            <a:ext cx="5187950" cy="964882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  <p:txBody>
          <a:bodyPr wrap="square" lIns="183717" tIns="158317" rIns="40384" bIns="132917" rtlCol="0" anchor="t">
            <a:normAutofit/>
          </a:bodyPr>
          <a:lstStyle/>
          <a:p>
            <a:pPr marL="0" indent="0" algn="l">
              <a:lnSpc>
                <a:spcPts val="1611"/>
              </a:lnSpc>
              <a:buNone/>
            </a:pPr>
            <a:r>
              <a:rPr lang="en-US" sz="140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スタジオが毎日</a:t>
            </a:r>
            <a:r>
              <a:rPr lang="ja-JP" altLang="en-US" sz="14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活用される</a:t>
            </a:r>
            <a:r>
              <a:rPr lang="en-US" sz="14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r>
              <a:rPr lang="en-US" sz="140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これまで収入を生んでいなかった資産が、賃貸収入と発信の場の両方になる</a:t>
            </a:r>
            <a:r>
              <a:rPr lang="en-US" sz="14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r>
              <a:rPr lang="ja-JP" altLang="en-US" sz="14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（イメージとしては</a:t>
            </a:r>
            <a:r>
              <a:rPr lang="en-US" sz="140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コムスクに講師が入っているのと同じ構図</a:t>
            </a:r>
            <a:r>
              <a:rPr lang="ja-JP" altLang="en-US" sz="14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88075" y="4873941"/>
            <a:ext cx="5187950" cy="964882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6350">
            <a:solidFill>
              <a:srgbClr val="E3DFD3"/>
            </a:solidFill>
            <a:prstDash val="solid"/>
          </a:ln>
        </p:spPr>
        <p:txBody>
          <a:bodyPr wrap="square" lIns="183717" tIns="158317" rIns="40384" bIns="132917" rtlCol="0" anchor="t">
            <a:normAutofit/>
          </a:bodyPr>
          <a:lstStyle/>
          <a:p>
            <a:pPr marL="0" indent="0" algn="l">
              <a:lnSpc>
                <a:spcPts val="1588"/>
              </a:lnSpc>
              <a:buNone/>
            </a:pPr>
            <a:r>
              <a:rPr lang="en-US" sz="140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当社のスタジオ利用（収録・発信の時間帯、BCP時の使用）は協定と賃貸契約の双方に定める</a:t>
            </a:r>
            <a:r>
              <a:rPr lang="en-US" sz="14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6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ja-JP" alt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事業性（収支項目）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32613"/>
            <a:ext cx="10883392" cy="1049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58"/>
              </a:lnSpc>
              <a:buNone/>
            </a:pPr>
            <a:r>
              <a:rPr lang="en-US" sz="2686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家賃は家賃、委託料は委託料、番組は番組</a:t>
            </a:r>
            <a:r>
              <a:rPr 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r>
              <a:rPr lang="ja-JP" altLang="en-US" sz="2686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（大きな投資なし）</a:t>
            </a:r>
            <a:endParaRPr lang="en-US" sz="2686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101023"/>
              </p:ext>
            </p:extLst>
          </p:nvPr>
        </p:nvGraphicFramePr>
        <p:xfrm>
          <a:off x="822960" y="2010441"/>
          <a:ext cx="10556241" cy="3422808"/>
        </p:xfrm>
        <a:graphic>
          <a:graphicData uri="http://schemas.openxmlformats.org/drawingml/2006/table">
            <a:tbl>
              <a:tblPr/>
              <a:tblGrid>
                <a:gridCol w="2533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9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236"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項目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内容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当社にとって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34"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貸室A・スタジオの家賃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面積を根拠に近隣相場と地域創造本部の基準で算定（月90万円前後、年1,000万〜1,200万円程度を想定）。不動産会社を介さず直接契約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収入（新規）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236"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受付・ビル管理の委託料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現行のR-tech委託をYURU'Qに移す。業務の対価として定める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支出（現行と同程度を想定。要確認）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236"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取次店契約のインセンティブ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スマホの獲得に応じて、取次店契約の中で支払う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支出（成果連動）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36"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区画工事・軽改修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貸室Aと調整室1の区画。YURU'Qが申請中の介護予防拠点の改修補助を当てる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負担は要協議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236"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番組・健康教室の運営費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拠点事業の最初の予算。番組1本と教室の運営費程度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支出（要算出）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316"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スマホの獲得・サポート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窓口とアカデミアからの契約、解約防止、家族・光・見守りへの提案、訪問の置き換え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82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収入（既存事業）</a:t>
                      </a:r>
                      <a:endParaRPr lang="en-US" sz="14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625452"/>
            <a:ext cx="10883392" cy="391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459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当社の収益は確実性の高い順に4層で考える：家賃・委託料（通常の契約として確実）→ スマホの接点の価値 → 拠点事業の収入（行政受託・スポンサー・企業の実証受入れ・自費講座の会場利用）→ 型の価値（横展開時の初期費用・期間の削減）。金額は条件が固まった段階で算出する。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進め方とスケジュール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383556"/>
            <a:ext cx="2011680" cy="2628607"/>
          </a:xfrm>
          <a:prstGeom prst="roundRect">
            <a:avLst>
              <a:gd name="adj" fmla="val 4022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12800" y="1383556"/>
            <a:ext cx="2011680" cy="1894523"/>
          </a:xfrm>
          <a:custGeom>
            <a:avLst/>
            <a:gdLst/>
            <a:ahLst/>
            <a:cxnLst/>
            <a:rect l="l" t="t" r="r" b="b"/>
            <a:pathLst>
              <a:path w="2011680" h="1894523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935480" y="0"/>
                </a:lnTo>
                <a:arcTo wR="76200" hR="76200" stAng="16200000" swAng="5400000"/>
                <a:lnTo>
                  <a:pt x="201168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3E7C5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5200" y="1571519"/>
            <a:ext cx="1758087" cy="228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2026年10〜12月</a:t>
            </a:r>
            <a:endParaRPr lang="en-US" sz="1159" dirty="0"/>
          </a:p>
        </p:txBody>
      </p:sp>
      <p:sp>
        <p:nvSpPr>
          <p:cNvPr id="7" name="Text 5"/>
          <p:cNvSpPr/>
          <p:nvPr/>
        </p:nvSpPr>
        <p:spPr>
          <a:xfrm>
            <a:off x="965200" y="1856341"/>
            <a:ext cx="1758087" cy="228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固める・付議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5200" y="2266931"/>
            <a:ext cx="1758087" cy="1661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6"/>
              </a:lnSpc>
              <a:buNone/>
            </a:pPr>
            <a:r>
              <a:rPr lang="ja-JP" altLang="en-US" sz="13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社内で計画を取り纏める</a:t>
            </a:r>
            <a:r>
              <a:rPr lang="en-US" sz="13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。YURU'Qと協定の骨子。米子市との対話開始。事業創造会議・経営会議へ付議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51480" y="1383556"/>
            <a:ext cx="2011680" cy="2628607"/>
          </a:xfrm>
          <a:prstGeom prst="roundRect">
            <a:avLst>
              <a:gd name="adj" fmla="val 4022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951480" y="1383556"/>
            <a:ext cx="2011680" cy="1894523"/>
          </a:xfrm>
          <a:custGeom>
            <a:avLst/>
            <a:gdLst/>
            <a:ahLst/>
            <a:cxnLst/>
            <a:rect l="l" t="t" r="r" b="b"/>
            <a:pathLst>
              <a:path w="2011680" h="1894523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935480" y="0"/>
                </a:lnTo>
                <a:arcTo wR="76200" hR="76200" stAng="16200000" swAng="5400000"/>
                <a:lnTo>
                  <a:pt x="201168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3E7C5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103880" y="1571519"/>
            <a:ext cx="17580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2027年1〜3月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3880" y="1856341"/>
            <a:ext cx="17580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03880" y="2286451"/>
            <a:ext cx="1758087" cy="1398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スタジオで健康教室・体験会を試行。契約（委託・賃貸・協定）の条件を固める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90160" y="1383556"/>
            <a:ext cx="2011680" cy="2628607"/>
          </a:xfrm>
          <a:prstGeom prst="roundRect">
            <a:avLst>
              <a:gd name="adj" fmla="val 4022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090160" y="1383556"/>
            <a:ext cx="2011680" cy="1894523"/>
          </a:xfrm>
          <a:custGeom>
            <a:avLst/>
            <a:gdLst/>
            <a:ahLst/>
            <a:cxnLst/>
            <a:rect l="l" t="t" r="r" b="b"/>
            <a:pathLst>
              <a:path w="2011680" h="1894523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935480" y="0"/>
                </a:lnTo>
                <a:arcTo wR="76200" hR="76200" stAng="16200000" swAng="5400000"/>
                <a:lnTo>
                  <a:pt x="201168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8B2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242560" y="1571519"/>
            <a:ext cx="1758087" cy="20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016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2027年4月〜</a:t>
            </a:r>
            <a:endParaRPr lang="en-US" sz="1016" dirty="0"/>
          </a:p>
        </p:txBody>
      </p:sp>
      <p:sp>
        <p:nvSpPr>
          <p:cNvPr id="17" name="Text 15"/>
          <p:cNvSpPr/>
          <p:nvPr/>
        </p:nvSpPr>
        <p:spPr>
          <a:xfrm>
            <a:off x="5242560" y="1856341"/>
            <a:ext cx="1758087" cy="203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第1フェーズ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42560" y="2215733"/>
            <a:ext cx="1758087" cy="1740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77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受付の委託とスマホ相談窓口を開始。上期中に貸室A・スタジオの区画・家賃・時期を決定。番組と自費のプレ講座を開始し、入学希望者をつくる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8840" y="1383556"/>
            <a:ext cx="2011680" cy="2628607"/>
          </a:xfrm>
          <a:prstGeom prst="roundRect">
            <a:avLst>
              <a:gd name="adj" fmla="val 4022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228840" y="1383556"/>
            <a:ext cx="2011680" cy="1894523"/>
          </a:xfrm>
          <a:custGeom>
            <a:avLst/>
            <a:gdLst/>
            <a:ahLst/>
            <a:cxnLst/>
            <a:rect l="l" t="t" r="r" b="b"/>
            <a:pathLst>
              <a:path w="2011680" h="1894523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935480" y="0"/>
                </a:lnTo>
                <a:arcTo wR="76200" hR="76200" stAng="16200000" swAng="5400000"/>
                <a:lnTo>
                  <a:pt x="201168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8B2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381240" y="1571519"/>
            <a:ext cx="1758087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2"/>
              </a:lnSpc>
              <a:buNone/>
            </a:pPr>
            <a:r>
              <a:rPr lang="en-US" sz="1151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2027年度下期〜2028年4月</a:t>
            </a:r>
            <a:endParaRPr lang="en-US" sz="1151" dirty="0"/>
          </a:p>
        </p:txBody>
      </p:sp>
      <p:sp>
        <p:nvSpPr>
          <p:cNvPr id="22" name="Text 20"/>
          <p:cNvSpPr/>
          <p:nvPr/>
        </p:nvSpPr>
        <p:spPr>
          <a:xfrm>
            <a:off x="7381240" y="1856341"/>
            <a:ext cx="1758087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第2フェーズ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81240" y="2225355"/>
            <a:ext cx="1758087" cy="134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区画工事。介護事業の指定申請（YURU'Q）。2028年4月にアカデミア型デイ開校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67520" y="1383556"/>
            <a:ext cx="2011680" cy="2628607"/>
          </a:xfrm>
          <a:prstGeom prst="roundRect">
            <a:avLst>
              <a:gd name="adj" fmla="val 4022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9367520" y="1383556"/>
            <a:ext cx="2011680" cy="1894523"/>
          </a:xfrm>
          <a:custGeom>
            <a:avLst/>
            <a:gdLst/>
            <a:ahLst/>
            <a:cxnLst/>
            <a:rect l="l" t="t" r="r" b="b"/>
            <a:pathLst>
              <a:path w="2011680" h="1894523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935480" y="0"/>
                </a:lnTo>
                <a:arcTo wR="76200" hR="76200" stAng="16200000" swAng="5400000"/>
                <a:lnTo>
                  <a:pt x="201168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3B6F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9519920" y="1571519"/>
            <a:ext cx="17580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2028年度〜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19920" y="1856341"/>
            <a:ext cx="17580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横展開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519920" y="2286452"/>
            <a:ext cx="1758087" cy="1058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運営の型をもとに、鳥大新病院や町村の公的施設への展開を検討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2800" y="4514388"/>
            <a:ext cx="5194300" cy="1075690"/>
          </a:xfrm>
          <a:prstGeom prst="roundRect">
            <a:avLst>
              <a:gd name="adj" fmla="val 7084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30" name="Text 28"/>
          <p:cNvSpPr/>
          <p:nvPr/>
        </p:nvSpPr>
        <p:spPr>
          <a:xfrm>
            <a:off x="1016000" y="4666788"/>
            <a:ext cx="4931537" cy="18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2"/>
              </a:lnSpc>
              <a:buNone/>
            </a:pPr>
            <a:r>
              <a:rPr lang="en-US" sz="1200" b="1" dirty="0">
                <a:solidFill>
                  <a:srgbClr val="3E7C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推進体制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6000" y="4878955"/>
            <a:ext cx="4931537" cy="58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92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コムスク・スマホチーム・メディア創造本部・地域創造本部の4者。YURU'Qとは共同事業協定。「コムスク・ネクスト」の名称・型・番組の権利は当社に帰属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84900" y="4514388"/>
            <a:ext cx="5194300" cy="1075690"/>
          </a:xfrm>
          <a:prstGeom prst="roundRect">
            <a:avLst>
              <a:gd name="adj" fmla="val 7084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33" name="Text 31"/>
          <p:cNvSpPr/>
          <p:nvPr/>
        </p:nvSpPr>
        <p:spPr>
          <a:xfrm>
            <a:off x="6388100" y="4666788"/>
            <a:ext cx="4931537" cy="18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2"/>
              </a:lnSpc>
              <a:buNone/>
            </a:pPr>
            <a:r>
              <a:rPr lang="en-US" sz="1200" b="1" dirty="0">
                <a:solidFill>
                  <a:srgbClr val="3E7C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何を見て次に進むか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88100" y="4878955"/>
            <a:ext cx="4931537" cy="58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14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数字の達成ではなく、機能・役割・リスクを確かめて判断。窓口の相談件数、試行・プレ講座の参加者、窓口経由の契約と解約防止、行政との対話の進度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71FEC1F8-4D81-D310-F038-D009E5E6E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3253848"/>
            <a:ext cx="11379200" cy="829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48"/>
              </a:lnSpc>
              <a:buNone/>
            </a:pPr>
            <a:r>
              <a:rPr lang="ja-JP" altLang="en-US" sz="2599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参考</a:t>
            </a:r>
            <a:endParaRPr lang="en-US" sz="2599" dirty="0"/>
          </a:p>
        </p:txBody>
      </p:sp>
    </p:spTree>
    <p:extLst>
      <p:ext uri="{BB962C8B-B14F-4D97-AF65-F5344CB8AC3E}">
        <p14:creationId xmlns:p14="http://schemas.microsoft.com/office/powerpoint/2010/main" val="2866637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4"/>
              </a:lnSpc>
              <a:buNone/>
            </a:pPr>
            <a:r>
              <a:rPr lang="en-US" sz="2400" b="1" kern="0" spc="100" dirty="0">
                <a:solidFill>
                  <a:srgbClr val="3E7C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だれに、何を届けるか</a:t>
            </a:r>
            <a:endParaRPr lang="en-US" sz="2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77541"/>
            <a:ext cx="10883392" cy="868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6"/>
              </a:lnSpc>
              <a:buNone/>
            </a:pPr>
            <a:r>
              <a:rPr lang="en-US" sz="2669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本人・家族・市・当社のそれぞれに、届けるものがある。</a:t>
            </a:r>
            <a:endParaRPr lang="en-US" sz="2669" dirty="0"/>
          </a:p>
          <a:p>
            <a:pPr marL="0" indent="0" algn="l">
              <a:lnSpc>
                <a:spcPts val="3336"/>
              </a:lnSpc>
              <a:buNone/>
            </a:pPr>
            <a:r>
              <a:rPr lang="en-US" sz="2669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事業上とくに重要なのは、送迎で毎日来る家族（50〜60代）</a:t>
            </a:r>
            <a:endParaRPr lang="en-US" sz="2669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59741"/>
          <a:ext cx="10556241" cy="3482259"/>
        </p:xfrm>
        <a:graphic>
          <a:graphicData uri="http://schemas.openxmlformats.org/drawingml/2006/table">
            <a:tbl>
              <a:tblPr/>
              <a:tblGrid>
                <a:gridCol w="2322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6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6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193"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だれに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今困っていること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拠点が届けるもの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要支援・軽度の要介護のシニア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介護認定を受けると気持ちが落ちる。従来型のデイは「行きたい場所」ではない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介護認定を「入学資格」に変える学校。ダンス・学び・スマホ。「できた」が増える場所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029"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元気なシニア・プレフレイル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講座の日以外に寄る場所がない。スマホで困っても聞ける人がいない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予約なしで寄れる相談窓口。いずれ通う場所が隣にある安心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029"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家族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親をデイに通わせる後ろめたさ。親のスマホや回線の相談先がない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「学校に通う」と言える。送迎のついでに窓口で相談（家族割・光・見守り）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029"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米子市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フレイル予防の先、軽度の要介護の受け皿が従来型しかない。行政アプリがシニアに届かない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リエイブルメント型の民間拠点。アプリ導入の常設窓口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029"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当社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スマホの次の柱とサポートの受け皿。スタジオの稼働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4"/>
                        </a:lnSpc>
                        <a:buNone/>
                      </a:pPr>
                      <a:r>
                        <a:rPr lang="en-US" sz="1203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関係値のある人が毎日いる拠点。番組の題材。地域づくり会社としての実績</a:t>
                      </a:r>
                      <a:endParaRPr lang="en-US" sz="1203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4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74"/>
              </a:lnSpc>
              <a:buNone/>
            </a:pPr>
            <a:r>
              <a:rPr lang="en-US" sz="2400" b="1" kern="0" spc="100" dirty="0">
                <a:solidFill>
                  <a:srgbClr val="3E7C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背景：超高齢社会と「街に出る」ことの価値</a:t>
            </a:r>
            <a:endParaRPr lang="en-US" sz="2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0076"/>
            <a:ext cx="10883392" cy="1089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48"/>
              </a:lnSpc>
              <a:buNone/>
            </a:pPr>
            <a:r>
              <a:rPr lang="en-US" sz="2599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高齢者が街に出て人と会うことが、本人の健康とまちの活力を支える。</a:t>
            </a:r>
            <a:endParaRPr lang="en-US" sz="2599" dirty="0"/>
          </a:p>
          <a:p>
            <a:pPr marL="0" indent="0" algn="l">
              <a:lnSpc>
                <a:spcPts val="3248"/>
              </a:lnSpc>
              <a:buNone/>
            </a:pPr>
            <a:r>
              <a:rPr lang="en-US" sz="2599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国と市の数字、研究の結果が同じ方向を示している</a:t>
            </a:r>
            <a:endParaRPr lang="en-US" sz="2599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43255"/>
          <a:ext cx="10556240" cy="3451354"/>
        </p:xfrm>
        <a:graphic>
          <a:graphicData uri="http://schemas.openxmlformats.org/drawingml/2006/table">
            <a:tbl>
              <a:tblPr/>
              <a:tblGrid>
                <a:gridCol w="1688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9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017"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視点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何が起きているか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本構想との関係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98"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人口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全国の高齢化率29.3%（2024年）。米子市の65歳以上は2040年に約4.6万人（33.5%）まで増える見込み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需要は2040年まで増える。従来型のデイだけでは選択肢が足りない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898"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社会参加の効果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「通いの場」に3年以上参加した人は、フレイルの新規発症がほぼ半分（ハザード比0.47）。週1回以上の参加で11年間の介護費が1人約30〜50万円少ない（JAGES）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「毎日通い、人と会う場」そのものが介護予防になる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978"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国の制度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介護保険は「総合事業」「リエイブルメント」へ転換中。要介護度が下がると事業者の報酬が減る構造があり、自立支援に取り組む事業者は少ない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自立と「卒業」を目指す拠点は、制度の方向にあり、取り組む事業者が少ない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978"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まちづくり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国土交通省は「居心地が良く歩きたくなるまちなか」を支援。米子市まちづくりビジョンは角盤町エリアを対象に挙げる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毎日通うシニアと家族が、コムスク・髙島屋・公会堂を行き来する流れをつくる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978"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当社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コムスクは米子市フレイル予防の公式会場として5年目。Chukaiスマホは獲得が前年の2.2倍に伸び、サポートの受け皿と次の柱が要る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19"/>
                        </a:lnSpc>
                        <a:buNone/>
                      </a:pPr>
                      <a:r>
                        <a:rPr lang="en-US" sz="1085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入口（コムスク）と接点（スマホ）はある。その間に「通う場」を加える</a:t>
                      </a:r>
                      <a:endParaRPr lang="en-US" sz="108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88900" marB="889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94287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出典：内閣府 令和7年版高齢社会白書、米子市まちづくりビジョン（2020年）、JAGES（厚生労働省検討会資料）　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5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0"/>
              </a:lnSpc>
              <a:buNone/>
            </a:pPr>
            <a:r>
              <a:rPr lang="en-US" sz="2400" b="1" kern="0" spc="100" dirty="0">
                <a:solidFill>
                  <a:srgbClr val="3E7C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「まちの健康」とは何か</a:t>
            </a:r>
            <a:endParaRPr lang="en-US" sz="2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1985"/>
            <a:ext cx="10883392" cy="1166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住民が自然に体を動かし、人とつながり、必要なときに支えを受けられる状態と、</a:t>
            </a:r>
            <a:endParaRPr lang="en-US" sz="2308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308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それを歩いて行ける距離で支えるまちの仕組み（本構想での定義・案）</a:t>
            </a:r>
            <a:endParaRPr lang="en-US" sz="2308" dirty="0"/>
          </a:p>
        </p:txBody>
      </p:sp>
      <p:sp>
        <p:nvSpPr>
          <p:cNvPr id="4" name="Shape 2"/>
          <p:cNvSpPr/>
          <p:nvPr/>
        </p:nvSpPr>
        <p:spPr>
          <a:xfrm>
            <a:off x="812800" y="2631836"/>
            <a:ext cx="3403600" cy="1857058"/>
          </a:xfrm>
          <a:prstGeom prst="roundRect">
            <a:avLst>
              <a:gd name="adj" fmla="val 4103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16000" y="2835036"/>
            <a:ext cx="3087116" cy="21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9"/>
              </a:lnSpc>
              <a:buNone/>
            </a:pPr>
            <a:r>
              <a:rPr lang="en-US" sz="1308" b="1" dirty="0">
                <a:solidFill>
                  <a:srgbClr val="3E7C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健康日本21（第三次）</a:t>
            </a:r>
            <a:endParaRPr lang="en-US" sz="1308" dirty="0"/>
          </a:p>
        </p:txBody>
      </p:sp>
      <p:sp>
        <p:nvSpPr>
          <p:cNvPr id="6" name="Text 4"/>
          <p:cNvSpPr/>
          <p:nvPr/>
        </p:nvSpPr>
        <p:spPr>
          <a:xfrm>
            <a:off x="1016000" y="3118486"/>
            <a:ext cx="3087116" cy="11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厚生労働省、2024〜2035年度。健康への関心が薄い人も含めた「自然に健康になれる環境づくり」と、通いの場などによる「社会とのつながり」を掲げる。健康寿命は男性72.68年・女性75.38年で、平均寿命との差は約9〜12年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4394200" y="2631836"/>
            <a:ext cx="3403600" cy="1857058"/>
          </a:xfrm>
          <a:prstGeom prst="roundRect">
            <a:avLst>
              <a:gd name="adj" fmla="val 4103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97400" y="2835036"/>
            <a:ext cx="3087116" cy="252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E7C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健康・医療・福祉のまちづくり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7400" y="3150871"/>
            <a:ext cx="3087116" cy="1160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94"/>
              </a:lnSpc>
              <a:buNone/>
            </a:pPr>
            <a:r>
              <a:rPr lang="en-US" sz="1196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国土交通省の推進ガイドライン（2014年）。地域包括ケアとまちづくりを連携させ、歩いて暮らせるまちなかに健康・医療・福祉の機能を集め、地域全体で生活を支え合う</a:t>
            </a:r>
            <a:endParaRPr lang="en-US" sz="1196" dirty="0"/>
          </a:p>
        </p:txBody>
      </p:sp>
      <p:sp>
        <p:nvSpPr>
          <p:cNvPr id="10" name="Shape 8"/>
          <p:cNvSpPr/>
          <p:nvPr/>
        </p:nvSpPr>
        <p:spPr>
          <a:xfrm>
            <a:off x="7975600" y="2631836"/>
            <a:ext cx="3403600" cy="1857058"/>
          </a:xfrm>
          <a:prstGeom prst="roundRect">
            <a:avLst>
              <a:gd name="adj" fmla="val 4103"/>
            </a:avLst>
          </a:prstGeom>
          <a:solidFill>
            <a:srgbClr val="F7F4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178800" y="2835036"/>
            <a:ext cx="3087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E7C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スマートウエルネスシティ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78800" y="3152536"/>
            <a:ext cx="308711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「歩く」を基本に、自然と体を動かす人が増えるまちをつくる考え方（健幸都市）。米子市のフレイル予防事業の名称「まちなか健幸習慣」もこの考え方に沿う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4717495"/>
            <a:ext cx="10566400" cy="1124506"/>
          </a:xfrm>
          <a:prstGeom prst="roundRect">
            <a:avLst>
              <a:gd name="adj" fmla="val 6776"/>
            </a:avLst>
          </a:prstGeom>
          <a:solidFill>
            <a:srgbClr val="1F232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066800" y="4920695"/>
            <a:ext cx="10360152" cy="212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225" b="1" dirty="0">
                <a:solidFill>
                  <a:srgbClr val="A8D5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目指す姿（案）</a:t>
            </a:r>
            <a:endParaRPr lang="en-US" sz="1225" dirty="0"/>
          </a:p>
        </p:txBody>
      </p:sp>
      <p:sp>
        <p:nvSpPr>
          <p:cNvPr id="15" name="Text 13"/>
          <p:cNvSpPr/>
          <p:nvPr/>
        </p:nvSpPr>
        <p:spPr>
          <a:xfrm>
            <a:off x="1066800" y="5171204"/>
            <a:ext cx="10360152" cy="492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57"/>
              </a:lnSpc>
              <a:buNone/>
            </a:pPr>
            <a:r>
              <a:rPr lang="en-US" sz="1238" dirty="0">
                <a:solidFill>
                  <a:srgbClr val="F7F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ンビル1階とコムスクを核に、超高齢社会におけるまちの健康のモデル（象徴）となる拠点を創造する。まず角盤町の四つ角で形にし、鳥取県内のモデルとして行政・大学と共有し、オールメディアで地域に届ける。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812800" y="6238239"/>
            <a:ext cx="93461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出典：厚生労働省「健康日本21（第三次）」、国土交通省ガイドライン（2014年）、筑波大学公表資料（2013年）　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0"/>
              </a:lnSpc>
              <a:buNone/>
            </a:pPr>
            <a:r>
              <a:rPr lang="en-US" sz="2400" b="1" kern="0" spc="100" dirty="0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リスクと対応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6428"/>
            <a:ext cx="11379200" cy="829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48"/>
              </a:lnSpc>
              <a:buNone/>
            </a:pPr>
            <a:r>
              <a:rPr lang="en-US" sz="2599" b="1" i="0" dirty="0" err="1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介護事業の収支はパートナーが</a:t>
            </a:r>
            <a:r>
              <a:rPr lang="ja-JP" altLang="en-US" sz="2599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担い</a:t>
            </a:r>
            <a:r>
              <a:rPr lang="en-US" sz="2599" b="1" i="0" dirty="0">
                <a:solidFill>
                  <a:srgbClr val="1F23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、拠点のブランドと型は当社に残す</a:t>
            </a:r>
            <a:endParaRPr lang="en-US" sz="2599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08941"/>
          <a:ext cx="10556240" cy="3533061"/>
        </p:xfrm>
        <a:graphic>
          <a:graphicData uri="http://schemas.openxmlformats.org/drawingml/2006/table">
            <a:tbl>
              <a:tblPr/>
              <a:tblGrid>
                <a:gridCol w="3800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5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リスク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b="1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対応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パートナーへの依存（YURU'Qは2025年設立）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共同事業協定で役割・費用・協定終了時の取扱いを定める。ブランドと運営の型は当社側に残す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介護事業の制度・収支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指定・収支は全てYURU'Qの責任。当社は介護報酬に依存しない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デイが閉じた場合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貸室A・スタジオは元の区画に戻す。受付の窓口はデイと切り離して続けられる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デイ利用者への営業と見られる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利用者情報は営業に使わない。勧誘はしない。協定に明記し、指定権者に事前確認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受付業務の移管に伴う雇用への影響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現委託先・組織人事課と協議する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501"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スタジオの共用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当社の収録・発信の時間帯とBCP時の使用を協定と賃貸契約に定める。セットの扱いはメディア創造本部と確認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他のテナント・取次店への説明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家賃は相場、委託料は業務の対価。特定の1社への優遇にはならない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1F23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電気通信事業法・本人確認の厳格化（2027年）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30"/>
                        </a:lnSpc>
                        <a:buNone/>
                      </a:pPr>
                      <a:r>
                        <a:rPr lang="en-US" sz="1164" dirty="0">
                          <a:solidFill>
                            <a:srgbClr val="5B616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窓口は相談と取次。契約の説明・手続きは当社が行う。代理店届出の要否を確認</a:t>
                      </a:r>
                      <a:endParaRPr lang="en-US" sz="1164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A8D5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方向性を決めていきたいこと（3点）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5727"/>
            <a:ext cx="1088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i="0" dirty="0">
                <a:solidFill>
                  <a:srgbClr val="F7F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今回の確認で新たに発生する大きな投資はない。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b="1" i="0" dirty="0">
                <a:solidFill>
                  <a:srgbClr val="F7F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契約と予算は、条件が固まった段階であらためて諮る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458727"/>
            <a:ext cx="10566400" cy="853440"/>
          </a:xfrm>
          <a:prstGeom prst="roundRect">
            <a:avLst>
              <a:gd name="adj" fmla="val 8929"/>
            </a:avLst>
          </a:prstGeom>
          <a:solidFill>
            <a:srgbClr val="2B303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41400" y="2636527"/>
            <a:ext cx="5080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A8D5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6400" y="2742567"/>
            <a:ext cx="97028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7F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コムスクの次の段階として、センビル1階を「まちの健康拠点」にする本構想の方向性を確認すること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3439158"/>
            <a:ext cx="10566400" cy="927100"/>
          </a:xfrm>
          <a:prstGeom prst="roundRect">
            <a:avLst>
              <a:gd name="adj" fmla="val 8219"/>
            </a:avLst>
          </a:prstGeom>
          <a:solidFill>
            <a:srgbClr val="2B303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41400" y="3653792"/>
            <a:ext cx="5080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A8D5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76400" y="3616958"/>
            <a:ext cx="975842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7F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YURU'Q合同会社を運営パートナーとし、共同事業協定の具体検討に入ること（受付業務の委託、貸室A・スタジオの賃貸、当社のスタジオ利用条件）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4493258"/>
            <a:ext cx="10566400" cy="927100"/>
          </a:xfrm>
          <a:prstGeom prst="roundRect">
            <a:avLst>
              <a:gd name="adj" fmla="val 8219"/>
            </a:avLst>
          </a:prstGeom>
          <a:solidFill>
            <a:srgbClr val="2B303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041400" y="4707892"/>
            <a:ext cx="5080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A8D5B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76400" y="4671058"/>
            <a:ext cx="975842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7F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2027年4月の第1フェーズ、2028年4月の第2フェーズに向け、年度内に試行（スタジオでの健康教室・番組企画）を始めること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859355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C4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当社にとっての価値：毎日の接点が新たに生まれる／横展開できる型をつくる／投資をほぼ伴わない　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コムスク・ネクスト 社内説明">
  <a:themeElements>
    <a:clrScheme name="コムスク・ネクスト 社内説明">
      <a:dk1>
        <a:srgbClr val="1F2328"/>
      </a:dk1>
      <a:lt1>
        <a:srgbClr val="F7F4EC"/>
      </a:lt1>
      <a:dk2>
        <a:srgbClr val="555759"/>
      </a:dk2>
      <a:lt2>
        <a:srgbClr val="E1DFD8"/>
      </a:lt2>
      <a:accent1>
        <a:srgbClr val="3E7C59"/>
      </a:accent1>
      <a:accent2>
        <a:srgbClr val="A8D5B5"/>
      </a:accent2>
      <a:accent3>
        <a:srgbClr val="8B2A2E"/>
      </a:accent3>
      <a:accent4>
        <a:srgbClr val="5B6168"/>
      </a:accent4>
      <a:accent5>
        <a:srgbClr val="BFC4C9"/>
      </a:accent5>
      <a:accent6>
        <a:srgbClr val="9AA0A6"/>
      </a:accent6>
      <a:hlink>
        <a:srgbClr val="0563C1"/>
      </a:hlink>
      <a:folHlink>
        <a:srgbClr val="954F72"/>
      </a:folHlink>
    </a:clrScheme>
    <a:fontScheme name="コムスク・ネクスト 社内説明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1663</Words>
  <Application>Microsoft Office PowerPoint</Application>
  <PresentationFormat>ワイド画面</PresentationFormat>
  <Paragraphs>298</Paragraphs>
  <Slides>18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1" baseType="lpstr">
      <vt:lpstr>Noto Sans JP</vt:lpstr>
      <vt:lpstr>Arial</vt:lpstr>
      <vt:lpstr>コムスク・ネクスト 社内説明</vt:lpstr>
      <vt:lpstr>PowerPoint プレゼンテーション</vt:lpstr>
      <vt:lpstr>コムスク・ネクスト構想</vt:lpstr>
      <vt:lpstr>コムスクの理念を隣のセンビル1階に広げ、当社が中心となり、 地域の事業者と一つの「まちの健康拠点」を創造する。</vt:lpstr>
      <vt:lpstr>元気な一部の層から、元気を取り戻す多くの人へ。 その層を迎える場は、まだ空いている</vt:lpstr>
      <vt:lpstr>コムスク：「学ぶ広場」、センビル1階：「通う・相談・発信の場」へ 歩いて繋がる「まちの健康拠点」を創る。</vt:lpstr>
      <vt:lpstr>3つの層で構成する。当社が担うのは②「総合的な健康の拠点事業」であり、 拠点の中心として地域の事業者と一つの拠点をつくる</vt:lpstr>
      <vt:lpstr>「介護を受ける人」から「愉しみ・学ぶ人」へ。 元気を取り戻して卒業する、“アカデミア型”のデイサービス</vt:lpstr>
      <vt:lpstr>経営理念に沿い、コムスク・メディア・シニアとの接点という 当社の持つ資産を活用。コムスクを広げる形でYURU‘Qと挑戦する。</vt:lpstr>
      <vt:lpstr>中海テレビ放送とYURU‘Qの2者で進められる3本に。</vt:lpstr>
      <vt:lpstr>1階全体をコムスク・ネクストの拠点として位置付ける。</vt:lpstr>
      <vt:lpstr>家賃は家賃、委託料は委託料、番組は番組。（大きな投資なし）</vt:lpstr>
      <vt:lpstr>PowerPoint プレゼンテーション</vt:lpstr>
      <vt:lpstr>参考</vt:lpstr>
      <vt:lpstr>本人・家族・市・当社のそれぞれに、届けるものがある。 事業上とくに重要なのは、送迎で毎日来る家族（50〜60代）</vt:lpstr>
      <vt:lpstr>高齢者が街に出て人と会うことが、本人の健康とまちの活力を支える。 国と市の数字、研究の結果が同じ方向を示している</vt:lpstr>
      <vt:lpstr>住民が自然に体を動かし、人とつながり、必要なときに支えを受けられる状態と、 それを歩いて行ける距離で支えるまちの仕組み（本構想での定義・案）</vt:lpstr>
      <vt:lpstr>介護事業の収支はパートナーが担い、拠点のブランドと型は当社に残す</vt:lpstr>
      <vt:lpstr>今回の確認で新たに発生する大きな投資はない。 契約と予算は、条件が固まった段階であらためて諮る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コムスク・ネクスト 社内説明</dc:title>
  <dc:subject/>
  <dc:creator/>
  <cp:lastModifiedBy>小林 平</cp:lastModifiedBy>
  <cp:revision>3</cp:revision>
  <dcterms:created xsi:type="dcterms:W3CDTF">2026-10-20T00:33:47Z</dcterms:created>
  <dcterms:modified xsi:type="dcterms:W3CDTF">2026-10-20T01:03:51Z</dcterms:modified>
</cp:coreProperties>
</file>